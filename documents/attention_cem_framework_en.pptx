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5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Attention-CEM Defense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FFFFFF"/>
                </a:solidFill>
                <a:latin typeface="Segoe UI"/>
              </a:defRPr>
            </a:pPr>
            <a:r>
              <a:t>Slot-Based vs. Gated Attention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6070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>
                <a:solidFill>
                  <a:srgbClr val="222831"/>
                </a:solidFill>
                <a:latin typeface="Segoe UI"/>
              </a:defRPr>
            </a:pPr>
            <a:r>
              <a:t>Split inference protects raw data by keeping the encoder on-device, but intermediate features still leak privacy.</a:t>
            </a:r>
          </a:p>
          <a:p>
            <a:pPr>
              <a:defRPr sz="2100">
                <a:solidFill>
                  <a:srgbClr val="222831"/>
                </a:solidFill>
                <a:latin typeface="Segoe UI"/>
              </a:defRPr>
            </a:pPr>
            <a:r>
              <a:t>Conditional Entropy Maximization (CEM) boosts robustness by inflating the uncertainty an adversary has about the input given features.</a:t>
            </a:r>
          </a:p>
          <a:p>
            <a:pPr>
              <a:defRPr sz="2100">
                <a:solidFill>
                  <a:srgbClr val="222831"/>
                </a:solidFill>
                <a:latin typeface="Segoe UI"/>
              </a:defRPr>
            </a:pPr>
            <a:r>
              <a:t>We engineered two attention-driven surrogates that drop into the CEM pipeline without disrupting existing defenses.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5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Why CEM for Collaborative Inference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5284"/>
                </a:solidFill>
                <a:latin typeface="Segoe UI"/>
              </a:defRPr>
            </a:pPr>
            <a:r>
              <a:t>Threat Landscape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Intermediate features retain visual clues exploitable by model inversion attacks.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Adversaries can regress raw inputs using decoders or GAN-based generators even with limited prior knowledge.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Existing obfuscation defenses (noise, pruning, ARL) reduce leakage but lack a principled measure.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5544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5284"/>
                </a:solidFill>
                <a:latin typeface="Segoe UI"/>
              </a:defRPr>
            </a:pPr>
            <a:r>
              <a:t>CEM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The conditional entropy H(x|z) lower-bounds the minimal reconstruction MSE under any perfect adversary.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Maximizing this bound during training injects ambiguity into task-irrelevant redundancy.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Attention modules provide differentiable, data-aware surrogates for H(x|z) that plug into existing training schedules.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5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Slot + Gated Cross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5284"/>
                </a:solidFill>
                <a:latin typeface="Segoe UI"/>
              </a:defRPr>
            </a:pPr>
            <a:r>
              <a:t>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Tokenize features by class and run SlotAttention to discover S prototypes.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Apply Flamingo-style gated cross-attention: tanh(α_attn)·CrossAttn boosts discriminative cues.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Aggregate with per-dimension gates, SNR filters, slot-mass reweighting, and class-level gating.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5544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5284"/>
                </a:solidFill>
                <a:latin typeface="Segoe UI"/>
              </a:defRPr>
            </a:pPr>
            <a:r>
              <a:t>Why it works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Captures multi-modal structure inside a class, suppressing redundant channels attackers exploit.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LayerNorm + GRU updates keep slot competition stable while early-shutoff discards noisy gradients.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Best for privacy-critical workloads that can afford higher compute and careful hyper-parameter tuning.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5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Slot Pipeline – Training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5284"/>
                </a:solidFill>
                <a:latin typeface="Segoe UI"/>
              </a:defRPr>
            </a:pPr>
            <a: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Warmup ≥3 epochs before injecting gradients to avoid destabilizing the encoder.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Register module params once into the optimizer; reuse cached grads from L_C when composing with L_D.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Scale gradients by λ or a scheduler to balance accuracy versus robustness.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5544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5284"/>
                </a:solidFill>
                <a:latin typeface="Segoe UI"/>
              </a:defRPr>
            </a:pPr>
            <a:r>
              <a:t>Tuning Tips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Monitor slot_power, class_gate thresholds, and SNR sharpness to prevent over-suppression.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Enable early shutoff until the encoder reaches a stable operating point (low LR, high accuracy).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Log rob_loss, slot mass, and gate means to identify collapsing patterns early.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5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Gated Attention Pooling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5284"/>
                </a:solidFill>
                <a:latin typeface="Segoe UI"/>
              </a:defRPr>
            </a:pPr>
            <a:r>
              <a:t>Mechanism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Compute MIL-style weights: softmax(wᵀ[tanh(Vx) ⊙ σ(Ux)]).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Derive weighted mean μ and variance σ² as the entropy surrogate.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Apply ReLU/log thresholding: L_C = max(0, log(σ²+γ) - log(τ)).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5544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5284"/>
                </a:solidFill>
                <a:latin typeface="Segoe UI"/>
              </a:defRPr>
            </a:pPr>
            <a:r>
              <a:t>Advantages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Lightweight insert that adds negligible overhead to the CEM pipeline.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Stable by construction—LayerNorm and softplus avoid NaNs without elaborate gating.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Ideal for large batches, high-resolution inputs, or rapid experimentation.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5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Attention Surrogates – Comparison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45920"/>
          <a:ext cx="1088136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841248">
                <a:tc>
                  <a:txBody>
                    <a:bodyPr/>
                    <a:lstStyle/>
                    <a:p>
                      <a:pPr algn="ctr">
                        <a:defRPr b="1" sz="2200">
                          <a:latin typeface="Segoe UI"/>
                        </a:defRPr>
                      </a:pPr>
                      <a:r>
                        <a:t>Dimension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2200">
                          <a:latin typeface="Segoe UI"/>
                        </a:defRPr>
                      </a:pPr>
                      <a:r>
                        <a:t>Slot + Gated Cross Attn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 sz="2200">
                          <a:latin typeface="Segoe UI"/>
                        </a:defRPr>
                      </a:pPr>
                      <a:r>
                        <a:t>Gated Attention Pooling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800">
                          <a:latin typeface="Segoe UI"/>
                        </a:defRPr>
                      </a:pPr>
                      <a:r>
                        <a:t>Modeling 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latin typeface="Segoe UI"/>
                        </a:defRPr>
                      </a:pPr>
                      <a:r>
                        <a:t>Captures multi-modal class structure via competing slots and gated cross-attention.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latin typeface="Segoe UI"/>
                        </a:defRPr>
                      </a:pPr>
                      <a:r>
                        <a:t>Summarizes class with a single attention distribution; focuses on coarse dispersion.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800">
                          <a:latin typeface="Segoe UI"/>
                        </a:defRPr>
                      </a:pPr>
                      <a:r>
                        <a:t>Compute Footprint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latin typeface="Segoe UI"/>
                        </a:defRPr>
                      </a:pPr>
                      <a:r>
                        <a:t>High: slot updates, multi-head attention, per-dim gating.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latin typeface="Segoe UI"/>
                        </a:defRPr>
                      </a:pPr>
                      <a:r>
                        <a:t>Low: two MLPs + variance calculation.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800">
                          <a:latin typeface="Segoe UI"/>
                        </a:defRPr>
                      </a:pPr>
                      <a:r>
                        <a:t>Stability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latin typeface="Segoe UI"/>
                        </a:defRPr>
                      </a:pPr>
                      <a:r>
                        <a:t>Requires warmup, early shutoff, and gate monitoring.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latin typeface="Segoe UI"/>
                        </a:defRPr>
                      </a:pPr>
                      <a:r>
                        <a:t>Naturally stable; limited knobs to misconfigure.</a:t>
                      </a:r>
                    </a:p>
                  </a:txBody>
                  <a:tcPr/>
                </a:tc>
              </a:tr>
              <a:tr h="841248">
                <a:tc>
                  <a:txBody>
                    <a:bodyPr/>
                    <a:lstStyle/>
                    <a:p>
                      <a:pPr algn="ctr">
                        <a:defRPr sz="1800">
                          <a:latin typeface="Segoe UI"/>
                        </a:defRPr>
                      </a:pPr>
                      <a:r>
                        <a:t>Best 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latin typeface="Segoe UI"/>
                        </a:defRPr>
                      </a:pPr>
                      <a:r>
                        <a:t>Privacy-critical deployments willing to invest in tuning.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800">
                          <a:latin typeface="Segoe UI"/>
                        </a:defRPr>
                      </a:pPr>
                      <a:r>
                        <a:t>Resource-constrained or exploratory experiments.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C52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t>Implementation Checklist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544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5284"/>
                </a:solidFill>
                <a:latin typeface="Segoe UI"/>
              </a:defRPr>
            </a:pPr>
            <a:r>
              <a:t>Before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Ensure existing defenses (noise, dropout, ARL) remain in place—CEM augments them.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Allocate logging for rob_loss, entropy surrogate values, and gate statistics.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Plan warmup schedule and learning-rate thresholds for enabling CEM gradients.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554480"/>
            <a:ext cx="539496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7373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C5284"/>
                </a:solidFill>
                <a:latin typeface="Segoe UI"/>
              </a:defRPr>
            </a:pPr>
            <a:r>
              <a:t>During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7744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Slot module: gradually increase λ or loss scale as the encoder stabilizes.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Gated pooling: tune var_threshold ∝ noise strength to balance accuracy ↔ privacy.</a:t>
            </a:r>
          </a:p>
          <a:p>
            <a:pPr>
              <a:defRPr sz="2000">
                <a:solidFill>
                  <a:srgbClr val="222831"/>
                </a:solidFill>
                <a:latin typeface="Segoe UI"/>
              </a:defRPr>
            </a:pPr>
            <a:r>
              <a:t>Evaluate inversion robustness (MSE/SSIM/PSNR) alongside utility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