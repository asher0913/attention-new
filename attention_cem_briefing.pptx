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开场说明研究背景与两套注意力替换方案的目标。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说明将从威胁模型与CEM需求讲起，再分别解读两套框架，最后给出决策指南。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引出注意力替换的原因：需要更丰富的类内建模方式。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强调图中四步流程，指出 slots 如何作为记忆池提升类内建模。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讲重点：竞争式 softmax 和 β 学习，说明 Slot Attention 能捕捉多模态结构。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快速扫过三层门控：维度gate、SNR gate、类gate，突出控制策略。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强调安全阀：Early shutoff + 日志，有助指导调参。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突出简单流程和典型使用场景。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强调阈值 τ 与 LayerNorm 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slot 方案：保留关键守则，但计算复杂度更低。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点出决策依据，便于导师快速判断使用场景。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收尾强调评测计划与潜在混合策略。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邀请反馈，视情况衔接至问答。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601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Attention-CEM 防御框架概览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6E6E6"/>
                </a:solidFill>
              </a:defRPr>
            </a:pPr>
            <a:r>
              <a:t>Slot + Gated Cross Attention  vs.  Gated Attention Pooling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会议导览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把握结构，突出两套防御的关键差异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Calibri"/>
              </a:defRPr>
            </a:pPr>
            <a:r>
              <a:t>协同推理隐私问题 &amp; CEM 目标</a:t>
            </a:r>
          </a:p>
          <a:p>
            <a:pPr>
              <a:defRPr sz="2400">
                <a:latin typeface="Calibri"/>
              </a:defRPr>
            </a:pPr>
            <a:r>
              <a:t>协同推理隐私问题 &amp; CEM 目标</a:t>
            </a:r>
          </a:p>
          <a:p>
            <a:pPr>
              <a:defRPr sz="2400">
                <a:latin typeface="Calibri"/>
              </a:defRPr>
            </a:pPr>
            <a:r>
              <a:t>Slot + Gated Cross Attention：结构与训练融合</a:t>
            </a:r>
          </a:p>
          <a:p>
            <a:pPr>
              <a:defRPr sz="2400">
                <a:latin typeface="Calibri"/>
              </a:defRPr>
            </a:pPr>
            <a:r>
              <a:t>Gated Attention Pooling：轻量化替代方案</a:t>
            </a:r>
          </a:p>
          <a:p>
            <a:pPr>
              <a:defRPr sz="2400">
                <a:latin typeface="Calibri"/>
              </a:defRPr>
            </a:pPr>
            <a:r>
              <a:t>对比结论 &amp; 下一步验证计划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协同推理威胁与CEM目标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009E73"/>
          </a:solidFill>
          <a:ln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Calibri"/>
              </a:defRPr>
            </a:pPr>
            <a:r>
              <a:t>Client 侧编码器 Fe → 中间特征 z → Cloud 侧 Fd</a:t>
            </a:r>
          </a:p>
          <a:p>
            <a:pPr>
              <a:defRPr sz="2400">
                <a:latin typeface="Calibri"/>
              </a:defRPr>
            </a:pPr>
            <a:r>
              <a:t>Client 侧编码器 Fe → 中间特征 z → Cloud 侧 Fd</a:t>
            </a:r>
          </a:p>
          <a:p>
            <a:pPr>
              <a:defRPr sz="2400">
                <a:latin typeface="Calibri"/>
              </a:defRPr>
            </a:pPr>
            <a:r>
              <a:t>攻击者利用 z 做模型反演；关键指标是 H(x | z)</a:t>
            </a:r>
          </a:p>
          <a:p>
            <a:pPr>
              <a:defRPr sz="2400">
                <a:solidFill>
                  <a:srgbClr val="FF9900"/>
                </a:solidFill>
                <a:latin typeface="Calibri"/>
              </a:defRPr>
            </a:pPr>
            <a:r>
              <a:t>原方案：KMeans/GMM 近似条件熵，难捕捉类内多模态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9E73"/>
                </a:solidFill>
                <a:latin typeface="Calibri"/>
              </a:defRPr>
            </a:pPr>
            <a:r>
              <a:t>新策略：以注意力模块替换近似器</a:t>
            </a:r>
          </a:p>
          <a:p>
            <a:pPr>
              <a:defRPr sz="2400">
                <a:solidFill>
                  <a:srgbClr val="009E73"/>
                </a:solidFill>
                <a:latin typeface="Calibri"/>
              </a:defRPr>
            </a:pPr>
            <a:r>
              <a:t>新策略：以注意力模块替换近似器</a:t>
            </a:r>
          </a:p>
          <a:p>
            <a:pPr>
              <a:defRPr sz="2400">
                <a:latin typeface="Calibri"/>
              </a:defRPr>
            </a:pPr>
            <a:r>
              <a:t>优势：可训练、可微分、兼容现有优化流程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Slot + Gated Cross Attention 框架鸟瞰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377440" cy="1188720"/>
          </a:xfrm>
          <a:prstGeom prst="roundRect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类内特征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103120"/>
            <a:ext cx="2377440" cy="1188720"/>
          </a:xfrm>
          <a:prstGeom prst="roundRect">
            <a:avLst/>
          </a:prstGeom>
          <a:solidFill>
            <a:srgbClr val="009E7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Slot Attention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多轮竞争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2377440" cy="1188720"/>
          </a:xfrm>
          <a:prstGeom prst="round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Gated Cross Attention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注入 slot 语境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2377440" cy="1188720"/>
          </a:xfrm>
          <a:prstGeom prst="roundRect">
            <a:avLst/>
          </a:prstGeom>
          <a:solidFill>
            <a:srgbClr val="9D7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门控方差堆栈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输出 CEM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Calibri"/>
              </a:defRPr>
            </a:pPr>
            <a:r>
              <a:t>每个类独立处理，slots 复用以提取潜在模态</a:t>
            </a:r>
          </a:p>
          <a:p>
            <a:pPr>
              <a:defRPr sz="2200">
                <a:latin typeface="Calibri"/>
              </a:defRPr>
            </a:pPr>
            <a:r>
              <a:t>每个类独立处理，slots 复用以提取潜在模态</a:t>
            </a:r>
          </a:p>
          <a:p>
            <a:pPr>
              <a:defRPr sz="2200">
                <a:latin typeface="Calibri"/>
              </a:defRPr>
            </a:pPr>
            <a:r>
              <a:t>Flamingo 风格门控残差，控制 cross-attn/FFN 渐进启用</a:t>
            </a:r>
          </a:p>
          <a:p>
            <a:pPr>
              <a:defRPr sz="2200">
                <a:latin typeface="Calibri"/>
              </a:defRPr>
            </a:pPr>
            <a:r>
              <a:t>最终只回传类内 log-variance，嵌入现有 CEM 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Slot Attention：如何抽取类内子模态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009E73"/>
          </a:solidFill>
          <a:ln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latin typeface="Calibri"/>
              </a:defRPr>
            </a:pPr>
            <a:r>
              <a:t>LayerNorm + 一次性 K/V 投影，减少重复开销</a:t>
            </a:r>
          </a:p>
          <a:p>
            <a:pPr>
              <a:defRPr sz="2300">
                <a:latin typeface="Calibri"/>
              </a:defRPr>
            </a:pPr>
            <a:r>
              <a:t>LayerNorm + 一次性 K/V 投影，减少重复开销</a:t>
            </a:r>
          </a:p>
          <a:p>
            <a:pPr>
              <a:defRPr sz="2300">
                <a:latin typeface="Calibri"/>
              </a:defRPr>
            </a:pPr>
            <a:r>
              <a:t>学习到的 (μ, σ) 初始化 + 3 轮 GRU 更新强化 slot</a:t>
            </a:r>
          </a:p>
          <a:p>
            <a:pPr>
              <a:defRPr sz="2300">
                <a:latin typeface="Calibri"/>
              </a:defRPr>
            </a:pPr>
            <a:r>
              <a:t>softmax(β · sim) 竞争调整 slot 覆盖度，β 可学习</a:t>
            </a:r>
          </a:p>
          <a:p>
            <a:pPr>
              <a:defRPr sz="2300">
                <a:latin typeface="Calibri"/>
              </a:defRPr>
            </a:pPr>
            <a:r>
              <a:t>残差 MLP 稳定 slot 分布，避免硬切换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Gated Cross Attention + 门控熵堆栈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latin typeface="Calibri"/>
              </a:defRPr>
            </a:pPr>
            <a:r>
              <a:t>Pre-LN 多头交叉注意力，α_attn 控制残差权重</a:t>
            </a:r>
          </a:p>
          <a:p>
            <a:pPr>
              <a:defRPr sz="2300">
                <a:latin typeface="Calibri"/>
              </a:defRPr>
            </a:pPr>
            <a:r>
              <a:t>Pre-LN 多头交叉注意力，α_attn 控制残差权重</a:t>
            </a:r>
          </a:p>
          <a:p>
            <a:pPr>
              <a:defRPr sz="2300">
                <a:latin typeface="Calibri"/>
              </a:defRPr>
            </a:pPr>
            <a:r>
              <a:t>FFN 前置层归一化，α_ffn 渐进激活 dense 层</a:t>
            </a:r>
          </a:p>
          <a:p>
            <a:pPr>
              <a:defRPr sz="2300">
                <a:latin typeface="Calibri"/>
              </a:defRPr>
            </a:pPr>
            <a:r>
              <a:t>方差估计：slot 责任 → μ_s, σ_s^2 → 多级门控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196F3"/>
                </a:solidFill>
                <a:latin typeface="Calibri"/>
              </a:defRPr>
            </a:pPr>
            <a:r>
              <a:t>Per-dim gate：sigmoid(MLP(LN(log σ_s^2)))</a:t>
            </a:r>
          </a:p>
          <a:p>
            <a:pPr>
              <a:defRPr sz="2100">
                <a:solidFill>
                  <a:srgbClr val="2196F3"/>
                </a:solidFill>
                <a:latin typeface="Calibri"/>
              </a:defRPr>
            </a:pPr>
            <a:r>
              <a:t>Per-dim gate：sigmoid(MLP(LN(log σ_s^2)))</a:t>
            </a:r>
          </a:p>
          <a:p>
            <a:pPr>
              <a:defRPr sz="2100">
                <a:solidFill>
                  <a:srgbClr val="FF9900"/>
                </a:solidFill>
                <a:latin typeface="Calibri"/>
              </a:defRPr>
            </a:pPr>
            <a:r>
              <a:t>SNR gate：σ(κ(σ_s^2/(μ_s^2+ε) − τ))</a:t>
            </a:r>
          </a:p>
          <a:p>
            <a:pPr>
              <a:defRPr sz="2100">
                <a:latin typeface="Calibri"/>
              </a:defRPr>
            </a:pPr>
            <a:r>
              <a:t>Softplus margin + slot mass 权重 + class 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Slot 框架：训练流程 &amp; 安全阀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Calibri"/>
              </a:defRPr>
            </a:pPr>
            <a:r>
              <a:t>激活条件：稳定后再开启（warmup &gt; 3 epoch, λ &gt; 0）</a:t>
            </a:r>
          </a:p>
          <a:p>
            <a:pPr>
              <a:defRPr sz="2400">
                <a:latin typeface="Calibri"/>
              </a:defRPr>
            </a:pPr>
            <a:r>
              <a:t>激活条件：稳定后再开启（warmup &gt; 3 epoch, λ &gt; 0）</a:t>
            </a:r>
          </a:p>
          <a:p>
            <a:pPr>
              <a:defRPr sz="2400">
                <a:latin typeface="Calibri"/>
              </a:defRPr>
            </a:pPr>
            <a:r>
              <a:t>梯度路径：rob loss 反传 → 缓存 encoder grad → 再合并</a:t>
            </a:r>
          </a:p>
          <a:p>
            <a:pPr>
              <a:defRPr sz="2400">
                <a:latin typeface="Calibri"/>
              </a:defRPr>
            </a:pPr>
            <a:r>
              <a:t>缺省 scaling：attention_loss_scale = 0.25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9900"/>
                </a:solidFill>
                <a:latin typeface="Calibri"/>
              </a:defRPr>
            </a:pPr>
            <a:r>
              <a:t>Early shutoff：首 100 次或 gate 超阈值 → 输出 0</a:t>
            </a:r>
          </a:p>
          <a:p>
            <a:pPr>
              <a:defRPr sz="2400">
                <a:solidFill>
                  <a:srgbClr val="FF9900"/>
                </a:solidFill>
                <a:latin typeface="Calibri"/>
              </a:defRPr>
            </a:pPr>
            <a:r>
              <a:t>Early shutoff：首 100 次或 gate 超阈值 → 输出 0</a:t>
            </a:r>
          </a:p>
          <a:p>
            <a:pPr>
              <a:defRPr sz="2400">
                <a:latin typeface="Calibri"/>
              </a:defRPr>
            </a:pPr>
            <a:r>
              <a:t>异常处理：NaN/Inf 直接跳过，打印 gate 统计日志</a:t>
            </a:r>
          </a:p>
          <a:p>
            <a:pPr>
              <a:defRPr sz="2400">
                <a:latin typeface="Calibri"/>
              </a:defRPr>
            </a:pPr>
            <a:r>
              <a:t>优化器注册：首次调用时添加参数组，避免空算力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Gated Attention Pooling 框架鸟瞰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009E73"/>
          </a:solidFill>
          <a:ln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377440" cy="1188720"/>
          </a:xfrm>
          <a:prstGeom prst="roundRect">
            <a:avLst/>
          </a:prstGeom>
          <a:solidFill>
            <a:srgbClr val="2196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类内特征 X_c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LayerNorm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103120"/>
            <a:ext cx="2377440" cy="1188720"/>
          </a:xfrm>
          <a:prstGeom prst="roundRect">
            <a:avLst/>
          </a:prstGeom>
          <a:solidFill>
            <a:srgbClr val="009E7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Gated Pooling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 tanh(Vx) · σ(Ux)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2377440" cy="1188720"/>
          </a:xfrm>
          <a:prstGeom prst="round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Softmax 权重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a_m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2377440" cy="1188720"/>
          </a:xfrm>
          <a:prstGeom prst="roundRect">
            <a:avLst/>
          </a:prstGeom>
          <a:solidFill>
            <a:srgbClr val="785E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加权 μ, σ²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→ variance hinge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Calibri"/>
              </a:defRPr>
            </a:pPr>
            <a:r>
              <a:t>结构极简：两层线性 + softmax</a:t>
            </a:r>
          </a:p>
          <a:p>
            <a:pPr>
              <a:defRPr sz="2200">
                <a:latin typeface="Calibri"/>
              </a:defRPr>
            </a:pPr>
            <a:r>
              <a:t>结构极简：两层线性 + softmax</a:t>
            </a:r>
          </a:p>
          <a:p>
            <a:pPr>
              <a:defRPr sz="2200">
                <a:latin typeface="Calibri"/>
              </a:defRPr>
            </a:pPr>
            <a:r>
              <a:t>Variance hinge：log(σ_c^2) 与阈值比较</a:t>
            </a:r>
          </a:p>
          <a:p>
            <a:pPr>
              <a:defRPr sz="2200">
                <a:latin typeface="Calibri"/>
              </a:defRPr>
            </a:pPr>
            <a:r>
              <a:t>定位：快速验证、大 batch 或算力紧张场景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Gated Pooling 数学细节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Calibri"/>
              </a:defRPr>
            </a:pPr>
            <a:r>
              <a:t>a_m ∝ exp(wᵀ[tanh(Vx_m) ⊙ σ(Ux_m)])</a:t>
            </a:r>
          </a:p>
          <a:p>
            <a:pPr>
              <a:defRPr sz="2200">
                <a:latin typeface="Calibri"/>
              </a:defRPr>
            </a:pPr>
            <a:r>
              <a:t>a_m ∝ exp(wᵀ[tanh(Vx_m) ⊙ σ(Ux_m)])</a:t>
            </a:r>
          </a:p>
          <a:p>
            <a:pPr>
              <a:defRPr sz="2200">
                <a:latin typeface="Calibri"/>
              </a:defRPr>
            </a:pPr>
            <a:r>
              <a:t>μ_c = Σ a_m x_m,  σ_c² = Σ a_m (x_m − μ_c)²</a:t>
            </a:r>
          </a:p>
          <a:p>
            <a:pPr>
              <a:defRPr sz="2200">
                <a:latin typeface="Calibri"/>
              </a:defRPr>
            </a:pPr>
            <a:r>
              <a:t>τ = var_threshold · reg_strength² + γ</a:t>
            </a:r>
          </a:p>
          <a:p>
            <a:pPr>
              <a:defRPr sz="2200">
                <a:solidFill>
                  <a:srgbClr val="FF9900"/>
                </a:solidFill>
                <a:latin typeface="Calibri"/>
              </a:defRPr>
            </a:pPr>
            <a:r>
              <a:t>L_C = max{0, log(σ_c² + γ) − log(τ)}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Calibri"/>
              </a:defRPr>
            </a:pPr>
            <a:r>
              <a:t>LayerNorm 防止注意力塌缩</a:t>
            </a:r>
          </a:p>
          <a:p>
            <a:pPr>
              <a:defRPr sz="2200">
                <a:latin typeface="Calibri"/>
              </a:defRPr>
            </a:pPr>
            <a:r>
              <a:t>LayerNorm 防止注意力塌缩</a:t>
            </a:r>
          </a:p>
          <a:p>
            <a:pPr>
              <a:defRPr sz="2200">
                <a:latin typeface="Calibri"/>
              </a:defRPr>
            </a:pPr>
            <a:r>
              <a:t>默认 hidden_dim = clip(D/4)</a:t>
            </a:r>
          </a:p>
          <a:p>
            <a:pPr>
              <a:defRPr sz="2200">
                <a:latin typeface="Calibri"/>
              </a:defRPr>
            </a:pPr>
            <a:r>
              <a:t>attention_loss_scale = 0.1</a:t>
            </a:r>
          </a:p>
          <a:p>
            <a:pPr>
              <a:defRPr sz="2200">
                <a:latin typeface="Calibri"/>
              </a:defRPr>
            </a:pPr>
            <a:r>
              <a:t>skip 样本数 ≤1 的类避免噪声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轻量方案如何融入训练循环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009E73"/>
          </a:solidFill>
          <a:ln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Calibri"/>
              </a:defRPr>
            </a:pPr>
            <a:r>
              <a:t>Warmup 更长：默认 5 epoch 保障权重稳定</a:t>
            </a:r>
          </a:p>
          <a:p>
            <a:pPr>
              <a:defRPr sz="2400">
                <a:latin typeface="Calibri"/>
              </a:defRPr>
            </a:pPr>
            <a:r>
              <a:t>Warmup 更长：默认 5 epoch 保障权重稳定</a:t>
            </a:r>
          </a:p>
          <a:p>
            <a:pPr>
              <a:defRPr sz="2400">
                <a:latin typeface="Calibri"/>
              </a:defRPr>
            </a:pPr>
            <a:r>
              <a:t>首次使用时自动实例化 + 注册参数组</a:t>
            </a:r>
          </a:p>
          <a:p>
            <a:pPr>
              <a:defRPr sz="2400">
                <a:latin typeface="Calibri"/>
              </a:defRPr>
            </a:pPr>
            <a:r>
              <a:t>NaN/Inf 处理与 Slot 框架一致，易维护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两种注意力 CEM 方案对比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latin typeface="Calibri"/>
              </a:defRPr>
            </a:pPr>
            <a:r>
              <a:t>表达能力：Slot → 精细多模态；Pooling → 汇聚摘要</a:t>
            </a:r>
          </a:p>
          <a:p>
            <a:pPr>
              <a:defRPr sz="2300">
                <a:latin typeface="Calibri"/>
              </a:defRPr>
            </a:pPr>
            <a:r>
              <a:t>表达能力：Slot → 精细多模态；Pooling → 汇聚摘要</a:t>
            </a:r>
          </a:p>
          <a:p>
            <a:pPr>
              <a:defRPr sz="2300">
                <a:latin typeface="Calibri"/>
              </a:defRPr>
            </a:pPr>
            <a:r>
              <a:t>计算开销：Slot 重（GRU + 多头）；Pooling 轻</a:t>
            </a:r>
          </a:p>
          <a:p>
            <a:pPr>
              <a:defRPr sz="2300">
                <a:latin typeface="Calibri"/>
              </a:defRPr>
            </a:pPr>
            <a:r>
              <a:t>调参：Slot 多门控；Pooling 关注阈值与缩放</a:t>
            </a:r>
          </a:p>
          <a:p>
            <a:pPr>
              <a:defRPr sz="2300">
                <a:latin typeface="Calibri"/>
              </a:defRPr>
            </a:pPr>
            <a:r>
              <a:t>安全守则：Slot 需 shutoff；Pooling 简洁但须监控 softmax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下一步验证计划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latin typeface="Calibri"/>
              </a:defRPr>
            </a:pPr>
            <a:r>
              <a:t>多数据集对比：CIFAR-10/100, FaceScrub, TinyImageNet</a:t>
            </a:r>
          </a:p>
          <a:p>
            <a:pPr>
              <a:defRPr sz="2300">
                <a:latin typeface="Calibri"/>
              </a:defRPr>
            </a:pPr>
            <a:r>
              <a:t>多数据集对比：CIFAR-10/100, FaceScrub, TinyImageNet</a:t>
            </a:r>
          </a:p>
          <a:p>
            <a:pPr>
              <a:defRPr sz="2300">
                <a:latin typeface="Calibri"/>
              </a:defRPr>
            </a:pPr>
            <a:r>
              <a:t>与 GMM 基线比对 MIA 指标 (MSE/SSIM)</a:t>
            </a:r>
          </a:p>
          <a:p>
            <a:pPr>
              <a:defRPr sz="2300">
                <a:latin typeface="Calibri"/>
              </a:defRPr>
            </a:pPr>
            <a:r>
              <a:t>Mixed 策略：先 Pooling 筛选 → Slot 精细雕琢</a:t>
            </a:r>
          </a:p>
          <a:p>
            <a:pPr>
              <a:defRPr sz="2300">
                <a:latin typeface="Calibri"/>
              </a:defRPr>
            </a:pPr>
            <a:r>
              <a:t>分析 Early shutoff / class gate 对隐私-准确率折衷的影响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286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感谢指导 · 欢迎讨论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